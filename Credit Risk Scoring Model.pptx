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D25B37-C9FB-42E0-AC94-62ABCFD9AFE8}">
  <a:tblStyle styleId="{29D25B37-C9FB-42E0-AC94-62ABCFD9AF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390775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Credit Risk Scoring Model</a:t>
            </a:r>
            <a:endParaRPr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2595562" y="3314700"/>
            <a:ext cx="7000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Predicting Mortgage Default Using Freddie Mac Loan-Level Data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33825"/>
            <a:ext cx="110490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i="0" u="none" strike="noStrike" cap="none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Sauravkumar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Pandya </a:t>
            </a:r>
            <a:endParaRPr sz="1200" b="1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&amp;</a:t>
            </a:r>
            <a:endParaRPr sz="1200" b="1" i="0" u="none" strike="noStrike" cap="none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Dharmin Patel</a:t>
            </a:r>
            <a:endParaRPr sz="1200" b="1" i="0" u="none" strike="noStrike" cap="none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 b="0" i="0" u="none" strike="noStrike" cap="none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| Advisor: 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Dr. Prof. Humera Noor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University of Europe for Applied Sciences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295275" y="300513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Introduction &amp; Motivation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Introduction &amp; Motivation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571500" y="253841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Credit risk assessment is critical for financial stability. Traditional rule-based models often struggle to capture the non-linear relationships inherent in modern borrower behavior.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571500" y="394811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research leverages machine learning and Freddie Mac's loan-level dataset to develop an interpretable, accurate predictive model for mortgage defaults, providing essential insights for fintech risk management.</a:t>
            </a:r>
            <a:endParaRPr/>
          </a:p>
        </p:txBody>
      </p:sp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185987"/>
            <a:ext cx="528637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/>
        </p:nvSpPr>
        <p:spPr>
          <a:xfrm>
            <a:off x="295275" y="300513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Research Goals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571500" y="3090862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Build a machine learning model to predict mortgage default within 24 months.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571500" y="3509962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Dataset: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Freddie Mac Single-Family Loan-Level files (2023–2025).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571500" y="3929062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Approach: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Integration of origination and performance data to engineer risk-representative behavioral features.</a:t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571500" y="4348162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Enhance predictive accuracy and ensure model interpretability via SHAP/Explainable AI.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295275" y="300513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Methodology &amp; Data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17328"/>
            <a:ext cx="5286375" cy="187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012578"/>
            <a:ext cx="5286375" cy="168056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Dataset Composition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857250" y="3381375"/>
            <a:ext cx="49506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Origination Data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857250" y="3778746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Captures static borrower profiles at time of issuance: FICO score, LTV, DTI ratios, interest rates, and geographic property state.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6619875" y="3476625"/>
            <a:ext cx="49506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Performance Data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6619875" y="3873996"/>
            <a:ext cx="47148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Contains dynamic financial history: Monthly payment records, delinquency status, and specific loan modification histories.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295275" y="300513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Models &amp;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Predictive Performance Metrics</a:t>
            </a:r>
            <a:endParaRPr/>
          </a:p>
        </p:txBody>
      </p:sp>
      <p:graphicFrame>
        <p:nvGraphicFramePr>
          <p:cNvPr id="140" name="Google Shape;140;p21"/>
          <p:cNvGraphicFramePr/>
          <p:nvPr/>
        </p:nvGraphicFramePr>
        <p:xfrm>
          <a:off x="571500" y="2843212"/>
          <a:ext cx="11048975" cy="2019300"/>
        </p:xfrm>
        <a:graphic>
          <a:graphicData uri="http://schemas.openxmlformats.org/drawingml/2006/table">
            <a:tbl>
              <a:tblPr firstRow="1" bandRow="1">
                <a:noFill/>
                <a:tableStyleId>{29D25B37-C9FB-42E0-AC94-62ABCFD9AFE8}</a:tableStyleId>
              </a:tblPr>
              <a:tblGrid>
                <a:gridCol w="35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AUC-ROC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KS Statistic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0.34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Gini Coefficient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1" name="Google Shape;141;p21"/>
          <p:cNvSpPr/>
          <p:nvPr/>
        </p:nvSpPr>
        <p:spPr>
          <a:xfrm>
            <a:off x="571500" y="3348037"/>
            <a:ext cx="359360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4165103" y="3348037"/>
            <a:ext cx="491058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9075687" y="3348037"/>
            <a:ext cx="25448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571500" y="3857625"/>
            <a:ext cx="3593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4165103" y="3857625"/>
            <a:ext cx="4910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9075687" y="3857625"/>
            <a:ext cx="2544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571500" y="4352925"/>
            <a:ext cx="3593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4165103" y="4352925"/>
            <a:ext cx="4910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9075687" y="4352925"/>
            <a:ext cx="2544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571500" y="4848225"/>
            <a:ext cx="3593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4165103" y="4848225"/>
            <a:ext cx="4910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9075687" y="4848225"/>
            <a:ext cx="2544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/>
        </p:nvSpPr>
        <p:spPr>
          <a:xfrm>
            <a:off x="571500" y="571500"/>
            <a:ext cx="11601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Streamlit Underwriting Dashboard</a:t>
            </a:r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571500" y="29146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Deployed a professional Streamlit dashboard for real-time risk assessment.</a:t>
            </a:r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571500" y="37147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Features:</a:t>
            </a: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857250" y="4195762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22"/>
          <p:cNvSpPr txBox="1"/>
          <p:nvPr/>
        </p:nvSpPr>
        <p:spPr>
          <a:xfrm>
            <a:off x="952500" y="4210050"/>
            <a:ext cx="4905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 Individual Component Risk Ratings (FICO, DTI, LTV)</a:t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857250" y="4395787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22"/>
          <p:cNvSpPr txBox="1"/>
          <p:nvPr/>
        </p:nvSpPr>
        <p:spPr>
          <a:xfrm>
            <a:off x="952500" y="4410075"/>
            <a:ext cx="4905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Underwriting Verdicts</a:t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857250" y="4595812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952500" y="4610100"/>
            <a:ext cx="4905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Benchmarking against historical approved loans</a:t>
            </a:r>
            <a:endParaRPr/>
          </a:p>
        </p:txBody>
      </p:sp>
      <p:pic>
        <p:nvPicPr>
          <p:cNvPr id="166" name="Google Shape;166;p22" title="screencapture-localhost-8501-2026-06-19-19_43_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623" y="1638586"/>
            <a:ext cx="5923676" cy="358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/>
        </p:nvSpPr>
        <p:spPr>
          <a:xfrm>
            <a:off x="295275" y="300513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Conclusions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Widescreen</PresentationFormat>
  <Paragraphs>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Saurav Pandya</cp:lastModifiedBy>
  <cp:revision>1</cp:revision>
  <dcterms:modified xsi:type="dcterms:W3CDTF">2026-06-25T19:26:59Z</dcterms:modified>
</cp:coreProperties>
</file>